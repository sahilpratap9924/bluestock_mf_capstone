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Top Fund Houses by AUM (Crore)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(Crore)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9B-4FE0-B5A5-A27B8932E312}"/>
              </c:ext>
            </c:extLst>
          </c:dPt>
          <c:dPt>
            <c:idx val="1"/>
            <c:invertIfNegative val="0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9B-4FE0-B5A5-A27B8932E312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9B-4FE0-B5A5-A27B8932E312}"/>
              </c:ext>
            </c:extLst>
          </c:dPt>
          <c:dPt>
            <c:idx val="3"/>
            <c:invertIfNegative val="0"/>
            <c:bubble3D val="0"/>
            <c:spPr>
              <a:solidFill>
                <a:srgbClr val="6C3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9B-4FE0-B5A5-A27B8932E312}"/>
              </c:ext>
            </c:extLst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9B-4FE0-B5A5-A27B8932E312}"/>
              </c:ext>
            </c:extLst>
          </c:dPt>
          <c:dPt>
            <c:idx val="5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F9B-4FE0-B5A5-A27B8932E312}"/>
              </c:ext>
            </c:extLst>
          </c:dPt>
          <c:dPt>
            <c:idx val="6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F9B-4FE0-B5A5-A27B8932E312}"/>
              </c:ext>
            </c:extLst>
          </c:dPt>
          <c:dPt>
            <c:idx val="7"/>
            <c:invertIfNegative val="0"/>
            <c:bubble3D val="0"/>
            <c:spPr>
              <a:solidFill>
                <a:srgbClr val="8E44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F9B-4FE0-B5A5-A27B8932E312}"/>
              </c:ext>
            </c:extLst>
          </c:dPt>
          <c:cat>
            <c:strRef>
              <c:f>Sheet1!$A$2:$A$9</c:f>
              <c:strCache>
                <c:ptCount val="8"/>
                <c:pt idx="0">
                  <c:v>SBI MF</c:v>
                </c:pt>
                <c:pt idx="1">
                  <c:v>ICICI Pru</c:v>
                </c:pt>
                <c:pt idx="2">
                  <c:v>HDFC MF</c:v>
                </c:pt>
                <c:pt idx="3">
                  <c:v>Kotak</c:v>
                </c:pt>
                <c:pt idx="4">
                  <c:v>ABSL</c:v>
                </c:pt>
                <c:pt idx="5">
                  <c:v>Axis</c:v>
                </c:pt>
                <c:pt idx="6">
                  <c:v>DSP</c:v>
                </c:pt>
                <c:pt idx="7">
                  <c:v>Mirae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8500000</c:v>
                </c:pt>
                <c:pt idx="1">
                  <c:v>6300000</c:v>
                </c:pt>
                <c:pt idx="2">
                  <c:v>5700000</c:v>
                </c:pt>
                <c:pt idx="3">
                  <c:v>4200000</c:v>
                </c:pt>
                <c:pt idx="4">
                  <c:v>3800000</c:v>
                </c:pt>
                <c:pt idx="5">
                  <c:v>2900000</c:v>
                </c:pt>
                <c:pt idx="6">
                  <c:v>2100000</c:v>
                </c:pt>
                <c:pt idx="7">
                  <c:v>1800000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F9B-4FE0-B5A5-A27B8932E3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Industry Folio Growth (Lakh)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Folio Count (Lakh)</c:v>
                </c:pt>
              </c:strCache>
            </c:strRef>
          </c:tx>
          <c:spPr>
            <a:ln w="3810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63</c:v>
                </c:pt>
                <c:pt idx="2">
                  <c:v>101</c:v>
                </c:pt>
                <c:pt idx="3">
                  <c:v>197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68-45C6-9432-1F4E097D72B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SIP Inflow Growth (M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(M Crore)</c:v>
                </c:pt>
              </c:strCache>
            </c:strRef>
          </c:tx>
          <c:spPr>
            <a:ln w="38100" cap="flat">
              <a:solidFill>
                <a:srgbClr val="F0A5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0.15</c:v>
                </c:pt>
                <c:pt idx="1">
                  <c:v>0.18</c:v>
                </c:pt>
                <c:pt idx="2">
                  <c:v>0.27</c:v>
                </c:pt>
                <c:pt idx="3">
                  <c:v>0.34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A3E-4104-A003-276EC035A2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Transaction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FC-410C-B50A-13B04712F101}"/>
              </c:ext>
            </c:extLst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FC-410C-B50A-13B04712F101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FC-410C-B50A-13B04712F10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DFC-410C-B50A-13B04712F10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FC-410C-B50A-13B04712F10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DFC-410C-B50A-13B04712F10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Lumpsum</c:v>
                </c:pt>
                <c:pt idx="1">
                  <c:v>Redemption</c:v>
                </c:pt>
                <c:pt idx="2">
                  <c:v>SIP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58.49</c:v>
                </c:pt>
                <c:pt idx="1">
                  <c:v>35.340000000000003</c:v>
                </c:pt>
                <c:pt idx="2">
                  <c:v>6.17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FC-410C-B50A-13B04712F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1628"/>
                </a:solidFill>
                <a:latin typeface="Arial"/>
              </a:rPr>
              <a:t>Return (CAGR) vs Risk (Sharpe Ratio)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Funds</c:v>
                </c:pt>
              </c:strCache>
            </c:strRef>
          </c:tx>
          <c:spPr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0.2</c:v>
                </c:pt>
                <c:pt idx="1">
                  <c:v>0.22</c:v>
                </c:pt>
                <c:pt idx="2">
                  <c:v>0.25</c:v>
                </c:pt>
                <c:pt idx="3">
                  <c:v>0.28000000000000003</c:v>
                </c:pt>
                <c:pt idx="4">
                  <c:v>0.28999999999999998</c:v>
                </c:pt>
                <c:pt idx="5">
                  <c:v>0.31</c:v>
                </c:pt>
                <c:pt idx="6">
                  <c:v>0.32</c:v>
                </c:pt>
                <c:pt idx="7">
                  <c:v>0.35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0.83</c:v>
                </c:pt>
                <c:pt idx="2">
                  <c:v>0.87</c:v>
                </c:pt>
                <c:pt idx="3">
                  <c:v>0.98</c:v>
                </c:pt>
                <c:pt idx="4">
                  <c:v>1.03</c:v>
                </c:pt>
                <c:pt idx="5">
                  <c:v>0.91</c:v>
                </c:pt>
                <c:pt idx="6">
                  <c:v>1.21</c:v>
                </c:pt>
                <c:pt idx="7">
                  <c:v>0.79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532-497B-886E-DD4F32CAC1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 (Debt)</c:v>
                </c:pt>
              </c:strCache>
            </c:strRef>
          </c:tx>
          <c:spPr>
            <a:ln w="25400" cap="flat">
              <a:solidFill>
                <a:srgbClr val="2E86A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AB"/>
              </a:solidFill>
              <a:ln w="9525" cap="flat">
                <a:solidFill>
                  <a:srgbClr val="2E86A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0.2</c:v>
                </c:pt>
                <c:pt idx="1">
                  <c:v>0.22</c:v>
                </c:pt>
                <c:pt idx="2">
                  <c:v>0.25</c:v>
                </c:pt>
                <c:pt idx="3">
                  <c:v>0.28000000000000003</c:v>
                </c:pt>
                <c:pt idx="4">
                  <c:v>0.28999999999999998</c:v>
                </c:pt>
                <c:pt idx="5">
                  <c:v>0.31</c:v>
                </c:pt>
                <c:pt idx="6">
                  <c:v>0.32</c:v>
                </c:pt>
                <c:pt idx="7">
                  <c:v>0.35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-0.05</c:v>
                </c:pt>
                <c:pt idx="1">
                  <c:v>0.06</c:v>
                </c:pt>
                <c:pt idx="2">
                  <c:v>0.02</c:v>
                </c:pt>
                <c:pt idx="3">
                  <c:v>0.04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32-497B-886E-DD4F32CAC1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Debt Funds</c:v>
                </c:pt>
              </c:strCache>
            </c:strRef>
          </c:tx>
          <c:spPr>
            <a:ln w="25400" cap="flat">
              <a:solidFill>
                <a:srgbClr val="F0A5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A500"/>
              </a:solidFill>
              <a:ln w="9525" cap="flat">
                <a:solidFill>
                  <a:srgbClr val="F0A500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0.2</c:v>
                </c:pt>
                <c:pt idx="1">
                  <c:v>0.22</c:v>
                </c:pt>
                <c:pt idx="2">
                  <c:v>0.25</c:v>
                </c:pt>
                <c:pt idx="3">
                  <c:v>0.28000000000000003</c:v>
                </c:pt>
                <c:pt idx="4">
                  <c:v>0.28999999999999998</c:v>
                </c:pt>
                <c:pt idx="5">
                  <c:v>0.31</c:v>
                </c:pt>
                <c:pt idx="6">
                  <c:v>0.32</c:v>
                </c:pt>
                <c:pt idx="7">
                  <c:v>0.35</c:v>
                </c:pt>
              </c:numCache>
            </c:numRef>
          </c:xVal>
          <c:yVal>
            <c:numRef>
              <c:f>Sheet1!$D$2:$D$9</c:f>
              <c:numCache>
                <c:formatCode>General</c:formatCode>
                <c:ptCount val="8"/>
                <c:pt idx="0">
                  <c:v>0.16</c:v>
                </c:pt>
                <c:pt idx="1">
                  <c:v>-0.82</c:v>
                </c:pt>
                <c:pt idx="2">
                  <c:v>0.12</c:v>
                </c:pt>
                <c:pt idx="3">
                  <c:v>0.08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32-497B-886E-DD4F32CAC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79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73152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C2D45">
                    <a:alpha val="20000"/>
                  </a:srgbClr>
                </a:solidFill>
              </a:rPr>
              <a:t>BF</a:t>
            </a:r>
            <a:endParaRPr lang="en-US" sz="200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F0A500"/>
                </a:solidFill>
              </a:rPr>
              <a:t>ERA OF TRADER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468880" y="502920"/>
            <a:ext cx="36576" cy="4114800"/>
          </a:xfrm>
          <a:prstGeom prst="rect">
            <a:avLst/>
          </a:prstGeom>
          <a:solidFill>
            <a:srgbClr val="2A4A6B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6400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2743200" y="141732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2743200" y="22860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Report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743200" y="2907792"/>
            <a:ext cx="73152" cy="731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07792" y="2907792"/>
            <a:ext cx="73152" cy="7315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72384" y="2907792"/>
            <a:ext cx="73152" cy="73152"/>
          </a:xfrm>
          <a:prstGeom prst="ellipse">
            <a:avLst/>
          </a:prstGeom>
          <a:solidFill>
            <a:srgbClr val="3A5A7F"/>
          </a:solidFill>
          <a:ln w="12700">
            <a:solidFill>
              <a:srgbClr val="3A5A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31272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</a:rPr>
              <a:t>Prepared by: </a:t>
            </a:r>
            <a:r>
              <a:rPr lang="en-US" sz="1100" b="1" dirty="0">
                <a:solidFill>
                  <a:srgbClr val="FFFFFF"/>
                </a:solidFill>
              </a:rPr>
              <a:t>Sahil Pratap Singh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34381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Role: </a:t>
            </a:r>
            <a:r>
              <a:rPr lang="en-US" sz="1000" dirty="0">
                <a:solidFill>
                  <a:srgbClr val="A8C8E8"/>
                </a:solidFill>
              </a:rPr>
              <a:t>Data Analyst Intern  |  Bluestock Fintech Pvt. Ltd.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0" y="37490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D"/>
                </a:solidFill>
              </a:rPr>
              <a:t>June 2025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3A5A7F"/>
                </a:solidFill>
              </a:rPr>
              <a:t>CONFIDENTIAL  · 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 &amp; Objectives</a:t>
            </a:r>
            <a:endParaRPr lang="en-US" sz="20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2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20040" y="77724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777240"/>
            <a:ext cx="3931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777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23444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No unified view of mutual fund performance across AMCs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Fragmented raw data: NAV, AUM, SIP, investor transactions in silos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No standardised scoring model to compare risk-adjusted returns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Lack of investor demographic &amp; geographic analytics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3A5F"/>
                </a:solidFill>
              </a:rPr>
              <a:t>Manual, Excel-based analysis: error-prone &amp; unscalable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777240"/>
            <a:ext cx="4343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777240"/>
            <a:ext cx="43434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1261872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261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37760" y="1261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Build end-to-end ETL pipeline for 8 data sources into a normalized SQLite DB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1938528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1938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37760" y="1938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Perform EDA: AUM trends, NAV distributions, SIP growth patterns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0" y="2615184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615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937760" y="261518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Compute composite performance scores (CAGR, Sharpe, Alpha, Max DD)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3291840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3291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93776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Analyse investor demographics: geography, age, transaction type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0" y="3968496"/>
            <a:ext cx="292608" cy="29260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937760" y="39684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</a:rPr>
              <a:t>Deliver 5-page interactive Power BI dashboard suite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82296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Sources &amp; Coverage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DD0"/>
                </a:solidFill>
              </a:rPr>
              <a:t>8 heterogeneous datasets  ·  ~48,000 records  ·  Jan 2022 – Mar 2025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3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320040" y="987552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987552"/>
            <a:ext cx="19202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78992" y="1124712"/>
            <a:ext cx="402336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Scheme Master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0040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40 schemes, 8 fund houses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32888" y="987552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32888" y="987552"/>
            <a:ext cx="19202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124712"/>
            <a:ext cx="402336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32888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NAV History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532888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~12,000 daily NAV rows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45736" y="987552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45736" y="987552"/>
            <a:ext cx="192024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04688" y="1124712"/>
            <a:ext cx="402336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45736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AUM Data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45736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160 rows — monthly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58584" y="987552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6C3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58584" y="987552"/>
            <a:ext cx="1920240" cy="36576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17536" y="1124712"/>
            <a:ext cx="402336" cy="347472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58584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SIP Inflow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958584" y="1920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~800 rows — by category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2615184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0040" y="2615184"/>
            <a:ext cx="192024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78992" y="2752344"/>
            <a:ext cx="40233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182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Folio Count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20040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160 rows — by AMC &amp; period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532888" y="2615184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16A0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532888" y="2615184"/>
            <a:ext cx="1920240" cy="3657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91840" y="2752344"/>
            <a:ext cx="40233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32888" y="3182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Investor Txns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532888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33,000 simulated records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745736" y="2615184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45736" y="2615184"/>
            <a:ext cx="1920240" cy="3657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04688" y="2752344"/>
            <a:ext cx="40233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45736" y="3182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 Index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745736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~1,800 NIFTY 50/100 rows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58584" y="2615184"/>
            <a:ext cx="1920240" cy="1463040"/>
          </a:xfrm>
          <a:prstGeom prst="rect">
            <a:avLst/>
          </a:prstGeom>
          <a:solidFill>
            <a:srgbClr val="0D2240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958584" y="2615184"/>
            <a:ext cx="19202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17536" y="2752344"/>
            <a:ext cx="402336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58584" y="3182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Performance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958584" y="3547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40 rows — computed metrics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ETL Architecture &amp; Pipeline</a:t>
            </a:r>
            <a:endParaRPr lang="en-US" sz="20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4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1234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123444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5508" y="11155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AB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1664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7472" y="2011680"/>
            <a:ext cx="1088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8 CSV sources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AMFI · NSE · Simulated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545336" y="2157984"/>
            <a:ext cx="128016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45336" y="2048256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</a:rPr>
              <a:t>›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737360" y="1005840"/>
            <a:ext cx="1234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737360" y="1005840"/>
            <a:ext cx="1234440" cy="9144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98548" y="11155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98548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737360" y="1664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810512" y="2011680"/>
            <a:ext cx="1088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347 dupes removed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12 NAV imputed, outliers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008376" y="2157984"/>
            <a:ext cx="128016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08376" y="2048256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</a:rPr>
              <a:t>›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200400" y="1005840"/>
            <a:ext cx="1234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1005840"/>
            <a:ext cx="123444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61588" y="11155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61588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03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00400" y="1664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73552" y="2011680"/>
            <a:ext cx="1088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Feature engineering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Rolling avg · Derived cols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471416" y="2157984"/>
            <a:ext cx="128016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71416" y="2048256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</a:rPr>
              <a:t>›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663440" y="1005840"/>
            <a:ext cx="1234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1005840"/>
            <a:ext cx="1234440" cy="914400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4628" y="11155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4628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3FA8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663440" y="1664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736592" y="2011680"/>
            <a:ext cx="1088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SQLite DB (8 tables)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Star schema design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934456" y="2157984"/>
            <a:ext cx="128016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934456" y="2048256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</a:rPr>
              <a:t>›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126480" y="1005840"/>
            <a:ext cx="1234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26480" y="1005840"/>
            <a:ext cx="123444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87668" y="11155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87668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</a:rPr>
              <a:t>05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126480" y="1664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99632" y="2011680"/>
            <a:ext cx="1088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EDA + Perf Scoring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Composite 0-100 Score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397496" y="2157984"/>
            <a:ext cx="128016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397496" y="2048256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A8D"/>
                </a:solidFill>
              </a:rPr>
              <a:t>›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589520" y="1005840"/>
            <a:ext cx="1234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589520" y="1005840"/>
            <a:ext cx="1234440" cy="914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950708" y="11155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950708" y="11155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</a:rPr>
              <a:t>06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7589520" y="166420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Visualise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662672" y="2011680"/>
            <a:ext cx="108813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Power BI Dashboards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</a:rPr>
              <a:t>5 interactive pages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74320" y="3566160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65760" y="3566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A500"/>
                </a:solidFill>
              </a:rPr>
              <a:t>SQLite Database  ·  8 tables  ·  ~48K rows  |  Star Schema  ·  FK constraints  ·  Composite indexes on (scheme_code, date)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EDA Highlights  —  Industry &amp; AUM Analysis</a:t>
            </a:r>
            <a:endParaRPr lang="en-US" sz="19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5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28600" y="749808"/>
            <a:ext cx="1920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749808"/>
            <a:ext cx="19202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859536"/>
            <a:ext cx="1920240" cy="613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39M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28600" y="1419149"/>
            <a:ext cx="1920240" cy="390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Total Industry AUM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(Crore)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0008" y="749808"/>
            <a:ext cx="1920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50008" y="749808"/>
            <a:ext cx="19202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0008" y="859536"/>
            <a:ext cx="1920240" cy="613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133%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350008" y="1419149"/>
            <a:ext cx="1920240" cy="390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AUM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2022 → 2024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71416" y="749808"/>
            <a:ext cx="1920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71416" y="749808"/>
            <a:ext cx="192024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71416" y="859536"/>
            <a:ext cx="1920240" cy="613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258%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471416" y="1419149"/>
            <a:ext cx="1920240" cy="390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Folio Growth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2022 → 2025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592824" y="749808"/>
            <a:ext cx="192024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6C3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92824" y="749808"/>
            <a:ext cx="1920240" cy="36576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92824" y="859536"/>
            <a:ext cx="1920240" cy="613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51%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592824" y="1419149"/>
            <a:ext cx="1920240" cy="390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Top 3 AMC AUM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Concentration</a:t>
            </a:r>
            <a:endParaRPr lang="en-US" sz="9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228600" y="1993392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Chart 1"/>
          <p:cNvGraphicFramePr/>
          <p:nvPr/>
        </p:nvGraphicFramePr>
        <p:xfrm>
          <a:off x="5394960" y="1993392"/>
          <a:ext cx="35204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EDA Highlights  —  SIP Growth &amp; Investor Analytics</a:t>
            </a:r>
            <a:endParaRPr lang="en-US" sz="19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6 / 12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777240"/>
          <a:ext cx="42976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63440" y="777240"/>
          <a:ext cx="4251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228600" y="342900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228600" y="3429000"/>
            <a:ext cx="196596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28600" y="3538728"/>
            <a:ext cx="19659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33K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228600" y="4251960"/>
            <a:ext cx="1965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Total Transactions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2395728" y="342900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395728" y="3429000"/>
            <a:ext cx="196596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395728" y="3538728"/>
            <a:ext cx="19659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4bn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2395728" y="4251960"/>
            <a:ext cx="1965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Total Investment (INR)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62856" y="342900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62856" y="3429000"/>
            <a:ext cx="196596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562856" y="3538728"/>
            <a:ext cx="19659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5K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562856" y="4251960"/>
            <a:ext cx="1965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Unique Investors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29984" y="342900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29984" y="3429000"/>
            <a:ext cx="1965960" cy="36576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729984" y="3538728"/>
            <a:ext cx="19659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1628"/>
                </a:solidFill>
              </a:rPr>
              <a:t>53%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729984" y="4251960"/>
            <a:ext cx="19659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SIP Accounts YoY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"/>
            <a:ext cx="82296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Fund Performance Metrics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5669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ADD0"/>
                </a:solidFill>
              </a:rPr>
              <a:t>Composite Score = 40% CAGR  +  30% Sharpe  +  20% Alpha  +  10% (1 – |MaxDD|)  →  Normalised 0-100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7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1920240" cy="1097280"/>
          </a:xfrm>
          <a:prstGeom prst="rect">
            <a:avLst/>
          </a:prstGeom>
          <a:solidFill>
            <a:srgbClr val="0D2240"/>
          </a:solidFill>
          <a:ln w="25400">
            <a:solidFill>
              <a:srgbClr val="F0A5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14400"/>
            <a:ext cx="19202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9692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</a:rPr>
              <a:t>94.41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74320" y="1536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Highest Fund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(Mirae Asset LC)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14016" y="914400"/>
            <a:ext cx="1920240" cy="1097280"/>
          </a:xfrm>
          <a:prstGeom prst="rect">
            <a:avLst/>
          </a:prstGeom>
          <a:solidFill>
            <a:srgbClr val="0D2240"/>
          </a:solidFill>
          <a:ln w="25400">
            <a:solidFill>
              <a:srgbClr val="2E8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14016" y="914400"/>
            <a:ext cx="19202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14016" y="9692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AB"/>
                </a:solidFill>
              </a:rPr>
              <a:t>0.54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414016" y="1536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Avg Sharpe Ratio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All Funds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53712" y="914400"/>
            <a:ext cx="1920240" cy="1097280"/>
          </a:xfrm>
          <a:prstGeom prst="rect">
            <a:avLst/>
          </a:prstGeom>
          <a:solidFill>
            <a:srgbClr val="0D2240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53712" y="914400"/>
            <a:ext cx="192024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3712" y="9692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</a:rPr>
              <a:t>16%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4553712" y="1536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Avg 3Y CAGR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Equity Funds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93408" y="914400"/>
            <a:ext cx="1920240" cy="1097280"/>
          </a:xfrm>
          <a:prstGeom prst="rect">
            <a:avLst/>
          </a:prstGeom>
          <a:solidFill>
            <a:srgbClr val="0D2240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93408" y="914400"/>
            <a:ext cx="19202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9692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−0.53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693408" y="1536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Worst Max Drawdown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AADD0"/>
                </a:solidFill>
              </a:rPr>
              <a:t>Industry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21408"/>
          <a:ext cx="8595360" cy="27432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CAGR 3Y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</a:rPr>
                        <a:t>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A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Mirae Asset Large Cap — Reg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Equity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0.32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0.24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94.41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ICICI Pru Midcap — Reg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Equity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0.19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89.00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ABSL Frontline Equity — Reg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Equity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1.03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80.01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SBI Bluechip — Regular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Equity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0.87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74.00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HDFC Midcap Opps — Regular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Equity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0.91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0.22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71.00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Risk-Return &amp; Alpha Analysis</a:t>
            </a:r>
            <a:endParaRPr lang="en-US" sz="20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8 / 12</a:t>
            </a:r>
            <a:endParaRPr lang="en-US" sz="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749808"/>
          <a:ext cx="49377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349240" y="749808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349240" y="749808"/>
            <a:ext cx="356616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40680" y="749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40680" y="1307592"/>
            <a:ext cx="25603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88152" y="1234440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Equity funds: CAGR 0.20–0.35, Sharpe 0.80–1.21 — strong risk-adjusted returns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40680" y="1874520"/>
            <a:ext cx="256032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88152" y="1801368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Debt funds: near-zero Sharpe &amp; CAGR — ideal for capital preservation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40680" y="2441448"/>
            <a:ext cx="25603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88152" y="2368296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Mirae Asset Large Cap: best Sharpe (1.21) among equity funds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40680" y="3008376"/>
            <a:ext cx="25603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88152" y="2935224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DSP Small Cap: highest Alpha (0.28) with higher drawdown (-0.35)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40680" y="3575304"/>
            <a:ext cx="256032" cy="256032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788152" y="3502152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Avg Alpha (equity) = 0.19 — consistent outperformance vs NIFTY 50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40680" y="4142232"/>
            <a:ext cx="25603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88152" y="4069080"/>
            <a:ext cx="30358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ABSL Small Cap: negative CAGR (-0.05) — lowest composite score 27.46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Power BI Dashboards  —  Industry Overview &amp; Fund Performance</a:t>
            </a:r>
            <a:endParaRPr lang="en-US" sz="17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6576"/>
            <a:ext cx="82296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9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28600" y="685800"/>
            <a:ext cx="4251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dash1_indust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685800"/>
            <a:ext cx="4251960" cy="3063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3794760"/>
            <a:ext cx="42519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37947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 1  |  Industry Overview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28600" y="3858768"/>
            <a:ext cx="73152" cy="731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685800"/>
            <a:ext cx="42519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/home/claude/dash2_performanc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63440" y="685800"/>
            <a:ext cx="4251960" cy="3063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3794760"/>
            <a:ext cx="42519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54880" y="37947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 2  |  Fund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Power BI Dashboards  —  Investor Analytics, SIP Trends &amp; Fund Detail</a:t>
            </a:r>
            <a:endParaRPr lang="en-US" sz="155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6576"/>
            <a:ext cx="82296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10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28600" y="713232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dash3_investo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713232"/>
            <a:ext cx="274320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3273552"/>
            <a:ext cx="2743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32735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 3  |  Investor Analytics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200400" y="713232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3200400" y="3273552"/>
            <a:ext cx="274320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46120" y="32735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 4  |  SIP &amp; Market Trends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172200" y="713232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3" descr="/home/claude/dash5_fund_detai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713232"/>
            <a:ext cx="2743200" cy="2514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72200" y="3273552"/>
            <a:ext cx="274320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217920" y="32735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Dashboard 5  |  Fund Detail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228600" y="3749040"/>
            <a:ext cx="8686800" cy="11155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365760" y="3749040"/>
            <a:ext cx="841248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</a:rPr>
              <a:t>Key Dashboard Features:  </a:t>
            </a:r>
            <a:r>
              <a:rPr lang="en-US" sz="950" dirty="0">
                <a:solidFill>
                  <a:srgbClr val="A8C8E8"/>
                </a:solidFill>
              </a:rPr>
              <a:t>Cross-filter by Fund House · Category · Plan · State · Age Group · Transaction Type  |  Drill-through from Industry → Fund Detail  |  </a:t>
            </a:r>
            <a:r>
              <a:rPr lang="en-US" sz="950" dirty="0">
                <a:solidFill>
                  <a:srgbClr val="FFFFFF"/>
                </a:solidFill>
              </a:rPr>
              <a:t>Live KPI cards · Scatter plots · Bar/Line charts · Donut · Tables</a:t>
            </a:r>
            <a:endParaRPr lang="en-US" sz="9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A6EB10A-7201-ABD6-F6C4-F418194FC8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3232"/>
            <a:ext cx="2743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Findings &amp; Recommendations</a:t>
            </a:r>
            <a:endParaRPr lang="en-US" sz="2000" dirty="0"/>
          </a:p>
        </p:txBody>
      </p:sp>
      <p:pic>
        <p:nvPicPr>
          <p:cNvPr id="4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720"/>
            <a:ext cx="8229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508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8D"/>
                </a:solidFill>
              </a:rPr>
              <a:t>11 / 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56032" y="777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777240"/>
            <a:ext cx="54864" cy="1783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" y="941832"/>
            <a:ext cx="402336" cy="402336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941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" y="94183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AUM Leadership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3192" y="14356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SBI MF dominates with 8.5M crore. Top 3 AMCs hold 51% of industry AUM, posing concentration risk.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777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777240"/>
            <a:ext cx="54864" cy="1783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941832"/>
            <a:ext cx="402336" cy="40233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941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867912" y="94183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SIP Surge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383280" y="14356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SIP inflows grew 127% (2022–2025). SIP accounts grew 53% YoY — strongest retail adoption metric.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36208" y="77724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36208" y="777240"/>
            <a:ext cx="54864" cy="1783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73368" y="941832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73368" y="941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0" y="94183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Top Performer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373368" y="143560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Mirae Asset Large Cap leads with score 94.41 &amp; Sharpe 1.21 — best risk-adjusted equity fund.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" y="27432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6032" y="2743200"/>
            <a:ext cx="54864" cy="1783080"/>
          </a:xfrm>
          <a:prstGeom prst="rect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93192" y="2907792"/>
            <a:ext cx="402336" cy="402336"/>
          </a:xfrm>
          <a:prstGeom prst="ellipse">
            <a:avLst/>
          </a:prstGeom>
          <a:solidFill>
            <a:srgbClr val="6C3FA8"/>
          </a:solidFill>
          <a:ln w="12700">
            <a:solidFill>
              <a:srgbClr val="6C3F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3192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77824" y="290779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B30 Opportunity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93192" y="340156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B30 cities contribute 34.3% (1.2bn INR) of transactions — significant untapped rural growth potential.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46120" y="27432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46120" y="2743200"/>
            <a:ext cx="54864" cy="1783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83280" y="2907792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83280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867912" y="290779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Folio Explosion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3383280" y="340156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Folio count surged 258% (55L → 197L folios), indicating mass democratisation of MF investing.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236208" y="2743200"/>
            <a:ext cx="27432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36208" y="2743200"/>
            <a:ext cx="54864" cy="1783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73368" y="2907792"/>
            <a:ext cx="402336" cy="40233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73368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858000" y="2907792"/>
            <a:ext cx="20299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ELSS Decline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373368" y="3401568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A8D"/>
                </a:solidFill>
              </a:rPr>
              <a:t>ELSS inflows fell 69% in 2025 post new tax regime. AMCs need product innovation to restore demand.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6" name="Image 0" descr="/home/claude/blue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7432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08483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" y="29992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—  Mutual Fund Analytics Capstone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87952" y="3493008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89120" y="3493008"/>
            <a:ext cx="91440" cy="914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0288" y="3493008"/>
            <a:ext cx="91440" cy="91440"/>
          </a:xfrm>
          <a:prstGeom prst="ellipse">
            <a:avLst/>
          </a:prstGeom>
          <a:solidFill>
            <a:srgbClr val="2A4A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749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8D"/>
                </a:solidFill>
              </a:rPr>
              <a:t>Prepared by: </a:t>
            </a:r>
            <a:r>
              <a:rPr lang="en-US" sz="1000" b="1" dirty="0">
                <a:solidFill>
                  <a:srgbClr val="FFFFFF"/>
                </a:solidFill>
              </a:rPr>
              <a:t>Sahil Pratap Singh  </a:t>
            </a:r>
            <a:r>
              <a:rPr lang="en-US" sz="1000" dirty="0">
                <a:solidFill>
                  <a:srgbClr val="6B7A8D"/>
                </a:solidFill>
              </a:rPr>
              <a:t>|  Data Analyst Intern  |  </a:t>
            </a:r>
            <a:r>
              <a:rPr lang="en-US" sz="1000" dirty="0">
                <a:solidFill>
                  <a:srgbClr val="F0A500"/>
                </a:solidFill>
              </a:rPr>
              <a:t>Bluestock Fintech Pvt. Ltd.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40782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A7F"/>
                </a:solidFill>
              </a:rPr>
              <a:t>June 2025  ·  Confidential — Internal Use Only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060E1A"/>
          </a:solidFill>
          <a:ln w="12700">
            <a:solidFill>
              <a:srgbClr val="060E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8234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0" dirty="0">
                <a:solidFill>
                  <a:srgbClr val="F0A500"/>
                </a:solidFill>
              </a:rPr>
              <a:t>ERA OF TRADER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921</Words>
  <Application>Microsoft Office PowerPoint</Application>
  <PresentationFormat>On-screen Show (16:9)</PresentationFormat>
  <Paragraphs>221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— Capstone</dc:title>
  <dc:subject>PptxGenJS Presentation</dc:subject>
  <dc:creator>Sahil Pratap Singh</dc:creator>
  <cp:lastModifiedBy>sahil pratap singh</cp:lastModifiedBy>
  <cp:revision>2</cp:revision>
  <dcterms:created xsi:type="dcterms:W3CDTF">2026-06-06T08:33:23Z</dcterms:created>
  <dcterms:modified xsi:type="dcterms:W3CDTF">2026-06-07T13:49:31Z</dcterms:modified>
</cp:coreProperties>
</file>